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Montserrat" pitchFamily="2" charset="77"/>
      <p:regular r:id="rId15"/>
      <p:bold r:id="rId16"/>
      <p:italic r:id="rId17"/>
      <p:boldItalic r:id="rId18"/>
    </p:embeddedFont>
    <p:embeddedFont>
      <p:font typeface="Montserrat Bold" pitchFamily="2" charset="77"/>
      <p:regular r:id="rId19"/>
      <p:bold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  <p:embeddedFont>
      <p:font typeface="Open Sans Bold" pitchFamily="2" charset="0"/>
      <p:regular r:id="rId25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2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13" autoAdjust="0"/>
  </p:normalViewPr>
  <p:slideViewPr>
    <p:cSldViewPr>
      <p:cViewPr varScale="1">
        <p:scale>
          <a:sx n="60" d="100"/>
          <a:sy n="60" d="100"/>
        </p:scale>
        <p:origin x="200" y="5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image" Target="../media/image4.svg"/><Relationship Id="rId7" Type="http://schemas.openxmlformats.org/officeDocument/2006/relationships/slide" Target="slide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10" Type="http://schemas.openxmlformats.org/officeDocument/2006/relationships/slide" Target="slide8.xml"/><Relationship Id="rId4" Type="http://schemas.openxmlformats.org/officeDocument/2006/relationships/slide" Target="slide3.xml"/><Relationship Id="rId9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7314" y="816463"/>
            <a:ext cx="16138996" cy="4041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50"/>
              </a:lnSpc>
            </a:pPr>
            <a:r>
              <a:rPr lang="en-US" sz="8875">
                <a:solidFill>
                  <a:srgbClr val="1C402E"/>
                </a:solidFill>
                <a:latin typeface="Montserrat"/>
                <a:ea typeface="Montserrat"/>
                <a:cs typeface="Montserrat"/>
                <a:sym typeface="Montserrat"/>
              </a:rPr>
              <a:t> Case Study: Web Research Multi-Agent System</a:t>
            </a:r>
          </a:p>
          <a:p>
            <a:pPr algn="l">
              <a:lnSpc>
                <a:spcPts val="10650"/>
              </a:lnSpc>
            </a:pPr>
            <a:endParaRPr lang="en-US" sz="8875">
              <a:solidFill>
                <a:srgbClr val="1C402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817473" y="8915132"/>
            <a:ext cx="6717999" cy="168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0"/>
              </a:lnSpc>
            </a:pPr>
            <a:r>
              <a:rPr lang="en-US" sz="2000" b="1" spc="68">
                <a:solidFill>
                  <a:srgbClr val="1C402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PRESENTED BY: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17473" y="9177288"/>
            <a:ext cx="6717999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Munirah Alfaleh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9943214" y="4135368"/>
            <a:ext cx="8382000" cy="4236993"/>
          </a:xfrm>
          <a:custGeom>
            <a:avLst/>
            <a:gdLst/>
            <a:ahLst/>
            <a:cxnLst/>
            <a:rect l="l" t="t" r="r" b="b"/>
            <a:pathLst>
              <a:path w="6833860" h="4236993">
                <a:moveTo>
                  <a:pt x="6833860" y="0"/>
                </a:moveTo>
                <a:lnTo>
                  <a:pt x="0" y="0"/>
                </a:lnTo>
                <a:lnTo>
                  <a:pt x="0" y="4236993"/>
                </a:lnTo>
                <a:lnTo>
                  <a:pt x="6833860" y="4236993"/>
                </a:lnTo>
                <a:lnTo>
                  <a:pt x="683386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47314" y="4747645"/>
            <a:ext cx="6284469" cy="301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4060"/>
              </a:lnSpc>
            </a:pPr>
            <a:r>
              <a:rPr lang="en-US" sz="2900" dirty="0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Company: </a:t>
            </a:r>
            <a:r>
              <a:rPr lang="en-US" sz="2900" dirty="0" err="1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Exa</a:t>
            </a:r>
            <a:endParaRPr lang="en-US" sz="2900" dirty="0">
              <a:solidFill>
                <a:srgbClr val="1C40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 rtl="1">
              <a:lnSpc>
                <a:spcPts val="4060"/>
              </a:lnSpc>
            </a:pPr>
            <a:r>
              <a:rPr lang="en-US" sz="2900" dirty="0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Industry: AI Search / Technology</a:t>
            </a:r>
          </a:p>
          <a:p>
            <a:pPr algn="l" rtl="1">
              <a:lnSpc>
                <a:spcPts val="4060"/>
              </a:lnSpc>
            </a:pPr>
            <a:r>
              <a:rPr lang="en-US" sz="2900" dirty="0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Use Case: Deep Research AI Agent</a:t>
            </a:r>
          </a:p>
          <a:p>
            <a:pPr algn="l" rtl="1">
              <a:lnSpc>
                <a:spcPts val="4060"/>
              </a:lnSpc>
            </a:pPr>
            <a:r>
              <a:rPr lang="en-US" sz="2900" dirty="0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Course: Agentic AI Systems</a:t>
            </a:r>
          </a:p>
          <a:p>
            <a:pPr algn="just">
              <a:lnSpc>
                <a:spcPts val="3640"/>
              </a:lnSpc>
            </a:pPr>
            <a:endParaRPr lang="en-US" sz="2900" dirty="0">
              <a:solidFill>
                <a:srgbClr val="1C402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 rtl="1">
              <a:lnSpc>
                <a:spcPts val="4060"/>
              </a:lnSpc>
            </a:pPr>
            <a:endParaRPr lang="en-US" sz="2900" dirty="0">
              <a:solidFill>
                <a:srgbClr val="1C402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301342" y="8682532"/>
            <a:ext cx="11329650" cy="1470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9"/>
              </a:lnSpc>
              <a:spcBef>
                <a:spcPct val="0"/>
              </a:spcBef>
            </a:pPr>
            <a:r>
              <a:rPr lang="en-US" sz="2092" b="1" dirty="0" err="1">
                <a:solidFill>
                  <a:srgbClr val="1C40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Reference</a:t>
            </a:r>
            <a:r>
              <a:rPr lang="en-US" sz="2092" dirty="0" err="1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:https</a:t>
            </a:r>
            <a:r>
              <a:rPr lang="en-US" sz="2092" dirty="0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://</a:t>
            </a:r>
            <a:r>
              <a:rPr lang="en-US" sz="2092" dirty="0" err="1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blog.langchain.com</a:t>
            </a:r>
            <a:r>
              <a:rPr lang="en-US" sz="2092" dirty="0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/</a:t>
            </a:r>
            <a:r>
              <a:rPr lang="en-US" sz="2092" dirty="0" err="1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exa</a:t>
            </a:r>
            <a:r>
              <a:rPr lang="en-US" sz="2092" dirty="0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/?_</a:t>
            </a:r>
            <a:r>
              <a:rPr lang="en-US" sz="2092" dirty="0" err="1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gl</a:t>
            </a:r>
            <a:r>
              <a:rPr lang="en-US" sz="2092" dirty="0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=1*8b22a7*_</a:t>
            </a:r>
            <a:r>
              <a:rPr lang="en-US" sz="2092" dirty="0" err="1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gcl_au</a:t>
            </a:r>
            <a:r>
              <a:rPr lang="en-US" sz="2092" dirty="0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*MTAwMDk0MTUzMS4xNzczMTY4MjY4*_</a:t>
            </a:r>
            <a:r>
              <a:rPr lang="en-US" sz="2092" dirty="0" err="1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ga</a:t>
            </a:r>
            <a:r>
              <a:rPr lang="en-US" sz="2092" dirty="0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*MTkwNTgxNzkzOC4xNzczMTY4MjY5*_ga_47WX3HKKY2*czE3NzMxNjgyNjgkbzEkZzEkdDE3NzMxNjg4ODkkajUwJGwwJGgw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62604" y="1160400"/>
            <a:ext cx="9806604" cy="10293191"/>
          </a:xfrm>
          <a:custGeom>
            <a:avLst/>
            <a:gdLst/>
            <a:ahLst/>
            <a:cxnLst/>
            <a:rect l="l" t="t" r="r" b="b"/>
            <a:pathLst>
              <a:path w="9806604" h="10293191">
                <a:moveTo>
                  <a:pt x="0" y="0"/>
                </a:moveTo>
                <a:lnTo>
                  <a:pt x="9806604" y="0"/>
                </a:lnTo>
                <a:lnTo>
                  <a:pt x="9806604" y="10293191"/>
                </a:lnTo>
                <a:lnTo>
                  <a:pt x="0" y="102931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30410" y="2950067"/>
            <a:ext cx="4121920" cy="1174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50"/>
              </a:lnSpc>
              <a:spcBef>
                <a:spcPct val="0"/>
              </a:spcBef>
            </a:pPr>
            <a:r>
              <a:rPr lang="en-US" sz="7708">
                <a:solidFill>
                  <a:srgbClr val="FFFAF4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757585" y="2711365"/>
            <a:ext cx="6450841" cy="5553150"/>
            <a:chOff x="0" y="-57150"/>
            <a:chExt cx="8601121" cy="7404199"/>
          </a:xfrm>
        </p:grpSpPr>
        <p:sp>
          <p:nvSpPr>
            <p:cNvPr id="5" name="TextBox 5"/>
            <p:cNvSpPr txBox="1"/>
            <p:nvPr/>
          </p:nvSpPr>
          <p:spPr>
            <a:xfrm>
              <a:off x="0" y="-57150"/>
              <a:ext cx="8601121" cy="6391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47"/>
                </a:lnSpc>
              </a:pPr>
              <a:r>
                <a:rPr lang="en-US" sz="2890" u="sng" dirty="0">
                  <a:solidFill>
                    <a:srgbClr val="1C402E"/>
                  </a:solidFill>
                  <a:latin typeface="Open Sans"/>
                  <a:ea typeface="Open Sans"/>
                  <a:cs typeface="Open Sans"/>
                  <a:sym typeface="Open Sans"/>
                  <a:hlinkClick r:id="rId4" action="ppaction://hlinksldjump"/>
                </a:rPr>
                <a:t>Company Overview</a:t>
              </a:r>
            </a:p>
          </p:txBody>
        </p:sp>
        <p:sp>
          <p:nvSpPr>
            <p:cNvPr id="6" name="TextBox 6">
              <a:hlinkClick r:id="rId5" action="ppaction://hlinksldjump"/>
            </p:cNvPr>
            <p:cNvSpPr txBox="1"/>
            <p:nvPr/>
          </p:nvSpPr>
          <p:spPr>
            <a:xfrm>
              <a:off x="0" y="1073757"/>
              <a:ext cx="8601121" cy="6405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>
                <a:lnSpc>
                  <a:spcPts val="4047"/>
                </a:lnSpc>
                <a:defRPr sz="2890" u="sng">
                  <a:solidFill>
                    <a:srgbClr val="1C402E"/>
                  </a:solidFill>
                  <a:latin typeface="Open Sans"/>
                  <a:ea typeface="Open Sans"/>
                  <a:cs typeface="Open Sans"/>
                </a:defRPr>
              </a:lvl1pPr>
            </a:lstStyle>
            <a:p>
              <a:r>
                <a:rPr lang="en-US" dirty="0">
                  <a:solidFill>
                    <a:srgbClr val="2D2CFF"/>
                  </a:solidFill>
                  <a:sym typeface="Open Sans"/>
                </a:rPr>
                <a:t>Problem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197870"/>
              <a:ext cx="8601121" cy="6405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47"/>
                </a:lnSpc>
              </a:pPr>
              <a:r>
                <a:rPr lang="en-US" sz="2890" u="sng" dirty="0">
                  <a:solidFill>
                    <a:srgbClr val="2D2CFF"/>
                  </a:solidFill>
                  <a:latin typeface="Open Sans"/>
                  <a:ea typeface="Open Sans"/>
                  <a:cs typeface="Open Sans"/>
                  <a:sym typeface="Open Sans"/>
                  <a:hlinkClick r:id="rId6" action="ppaction://hlinksldjump"/>
                </a:rPr>
                <a:t>Solution</a:t>
              </a:r>
              <a:endParaRPr lang="en-US" sz="2890" u="sng" dirty="0">
                <a:solidFill>
                  <a:srgbClr val="2D2C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3321984"/>
              <a:ext cx="8601121" cy="6391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47"/>
                </a:lnSpc>
              </a:pPr>
              <a:r>
                <a:rPr lang="en-US" sz="2890" u="sng">
                  <a:solidFill>
                    <a:srgbClr val="1C402E"/>
                  </a:solidFill>
                  <a:latin typeface="Open Sans"/>
                  <a:ea typeface="Open Sans"/>
                  <a:cs typeface="Open Sans"/>
                  <a:sym typeface="Open Sans"/>
                  <a:hlinkClick r:id="rId7" action="ppaction://hlinksldjump"/>
                </a:rPr>
                <a:t>Agent Architecture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5583798"/>
              <a:ext cx="8601121" cy="6391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47"/>
                </a:lnSpc>
              </a:pPr>
              <a:r>
                <a:rPr lang="en-US" sz="2890" u="sng">
                  <a:solidFill>
                    <a:srgbClr val="1C402E"/>
                  </a:solidFill>
                  <a:latin typeface="Open Sans"/>
                  <a:ea typeface="Open Sans"/>
                  <a:cs typeface="Open Sans"/>
                  <a:sym typeface="Open Sans"/>
                  <a:hlinkClick r:id="rId8" action="ppaction://hlinksldjump"/>
                </a:rPr>
                <a:t>What is  Agentic</a:t>
              </a:r>
              <a:r>
                <a:rPr lang="en-US" sz="2890">
                  <a:solidFill>
                    <a:srgbClr val="1C402E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6714704"/>
              <a:ext cx="8601121" cy="6323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47"/>
                </a:lnSpc>
              </a:pPr>
              <a:r>
                <a:rPr lang="en-US" sz="2890" u="sng" dirty="0">
                  <a:solidFill>
                    <a:srgbClr val="1C402E"/>
                  </a:solidFill>
                  <a:latin typeface="Open Sans"/>
                  <a:ea typeface="Open Sans"/>
                  <a:cs typeface="Open Sans"/>
                  <a:sym typeface="Open Sans"/>
                  <a:hlinkClick r:id="rId9" action="ppaction://hlinksldjump"/>
                </a:rPr>
                <a:t>Conclusion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4452891"/>
              <a:ext cx="8601121" cy="6391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47"/>
                </a:lnSpc>
              </a:pPr>
              <a:r>
                <a:rPr lang="en-US" sz="2890" u="sng">
                  <a:solidFill>
                    <a:srgbClr val="1C402E"/>
                  </a:solidFill>
                  <a:latin typeface="Open Sans"/>
                  <a:ea typeface="Open Sans"/>
                  <a:cs typeface="Open Sans"/>
                  <a:sym typeface="Open Sans"/>
                  <a:hlinkClick r:id="rId10" action="ppaction://hlinksldjump"/>
                </a:rPr>
                <a:t>What is NOT Agentic 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B38BB3F-7726-B544-987A-3313309AB561}"/>
              </a:ext>
            </a:extLst>
          </p:cNvPr>
          <p:cNvSpPr txBox="1"/>
          <p:nvPr/>
        </p:nvSpPr>
        <p:spPr>
          <a:xfrm>
            <a:off x="13148498" y="2977116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1" eaLnBrk="1" latinLnBrk="0" hangingPunct="1"/>
            <a:endParaRPr lang="en-S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7088848" y="0"/>
            <a:ext cx="15103764" cy="10287000"/>
            <a:chOff x="0" y="0"/>
            <a:chExt cx="5475623" cy="37293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75623" cy="3729384"/>
            </a:xfrm>
            <a:custGeom>
              <a:avLst/>
              <a:gdLst/>
              <a:ahLst/>
              <a:cxnLst/>
              <a:rect l="l" t="t" r="r" b="b"/>
              <a:pathLst>
                <a:path w="5475623" h="3729384">
                  <a:moveTo>
                    <a:pt x="3322462" y="3729384"/>
                  </a:moveTo>
                  <a:lnTo>
                    <a:pt x="0" y="3729384"/>
                  </a:lnTo>
                  <a:lnTo>
                    <a:pt x="2153161" y="0"/>
                  </a:lnTo>
                  <a:lnTo>
                    <a:pt x="5475623" y="0"/>
                  </a:lnTo>
                  <a:lnTo>
                    <a:pt x="3322462" y="3729384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5475623" cy="3729384"/>
            </a:xfrm>
            <a:custGeom>
              <a:avLst/>
              <a:gdLst/>
              <a:ahLst/>
              <a:cxnLst/>
              <a:rect l="l" t="t" r="r" b="b"/>
              <a:pathLst>
                <a:path w="5475623" h="3729384">
                  <a:moveTo>
                    <a:pt x="3322462" y="3729384"/>
                  </a:moveTo>
                  <a:lnTo>
                    <a:pt x="0" y="3729384"/>
                  </a:lnTo>
                  <a:lnTo>
                    <a:pt x="2153161" y="0"/>
                  </a:lnTo>
                  <a:lnTo>
                    <a:pt x="5475623" y="0"/>
                  </a:lnTo>
                  <a:lnTo>
                    <a:pt x="3322462" y="3729384"/>
                  </a:lnTo>
                  <a:close/>
                </a:path>
              </a:pathLst>
            </a:custGeom>
            <a:blipFill>
              <a:blip r:embed="rId2"/>
              <a:stretch>
                <a:fillRect l="-1065" r="-1065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878715" y="763353"/>
            <a:ext cx="6294923" cy="274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>
                <a:solidFill>
                  <a:srgbClr val="1C402E"/>
                </a:solidFill>
                <a:latin typeface="Montserrat"/>
                <a:ea typeface="Montserrat"/>
                <a:cs typeface="Montserrat"/>
                <a:sym typeface="Montserrat"/>
              </a:rPr>
              <a:t>Company Overview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78715" y="4247265"/>
            <a:ext cx="7900836" cy="293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1"/>
              </a:lnSpc>
            </a:pPr>
            <a:r>
              <a:rPr lang="en-US" sz="2400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Exa is an AI search startup dedicated to Search APIs. It builds a search engine and services for AI applications, rather than targeting users directly like traditional search engines. It focuses on enabling intelligent agents and language models to access the web in a fast, accurate, and programmable way.</a:t>
            </a: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3010793" y="2125428"/>
            <a:ext cx="15967855" cy="10875523"/>
            <a:chOff x="0" y="0"/>
            <a:chExt cx="5475623" cy="372938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75623" cy="3729384"/>
            </a:xfrm>
            <a:custGeom>
              <a:avLst/>
              <a:gdLst/>
              <a:ahLst/>
              <a:cxnLst/>
              <a:rect l="l" t="t" r="r" b="b"/>
              <a:pathLst>
                <a:path w="5475623" h="3729384">
                  <a:moveTo>
                    <a:pt x="3322462" y="3729384"/>
                  </a:moveTo>
                  <a:lnTo>
                    <a:pt x="0" y="3729384"/>
                  </a:lnTo>
                  <a:lnTo>
                    <a:pt x="2153161" y="0"/>
                  </a:lnTo>
                  <a:lnTo>
                    <a:pt x="5475623" y="0"/>
                  </a:lnTo>
                  <a:lnTo>
                    <a:pt x="3322462" y="3729384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5475623" cy="3729384"/>
            </a:xfrm>
            <a:custGeom>
              <a:avLst/>
              <a:gdLst/>
              <a:ahLst/>
              <a:cxnLst/>
              <a:rect l="l" t="t" r="r" b="b"/>
              <a:pathLst>
                <a:path w="5475623" h="3729384">
                  <a:moveTo>
                    <a:pt x="3322462" y="3729384"/>
                  </a:moveTo>
                  <a:lnTo>
                    <a:pt x="0" y="3729384"/>
                  </a:lnTo>
                  <a:lnTo>
                    <a:pt x="2153161" y="0"/>
                  </a:lnTo>
                  <a:lnTo>
                    <a:pt x="5475623" y="0"/>
                  </a:lnTo>
                  <a:lnTo>
                    <a:pt x="3322462" y="372938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19541" y="4090876"/>
            <a:ext cx="5167424" cy="5167424"/>
          </a:xfrm>
          <a:custGeom>
            <a:avLst/>
            <a:gdLst/>
            <a:ahLst/>
            <a:cxnLst/>
            <a:rect l="l" t="t" r="r" b="b"/>
            <a:pathLst>
              <a:path w="5167424" h="5167424">
                <a:moveTo>
                  <a:pt x="0" y="0"/>
                </a:moveTo>
                <a:lnTo>
                  <a:pt x="5167424" y="0"/>
                </a:lnTo>
                <a:lnTo>
                  <a:pt x="5167424" y="5167424"/>
                </a:lnTo>
                <a:lnTo>
                  <a:pt x="0" y="51674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2387907" y="2647648"/>
            <a:ext cx="5167424" cy="5167424"/>
          </a:xfrm>
          <a:custGeom>
            <a:avLst/>
            <a:gdLst/>
            <a:ahLst/>
            <a:cxnLst/>
            <a:rect l="l" t="t" r="r" b="b"/>
            <a:pathLst>
              <a:path w="5167424" h="5167424">
                <a:moveTo>
                  <a:pt x="0" y="0"/>
                </a:moveTo>
                <a:lnTo>
                  <a:pt x="5167424" y="0"/>
                </a:lnTo>
                <a:lnTo>
                  <a:pt x="5167424" y="5167424"/>
                </a:lnTo>
                <a:lnTo>
                  <a:pt x="0" y="51674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876198" y="5475977"/>
            <a:ext cx="5246370" cy="5246370"/>
            <a:chOff x="0" y="0"/>
            <a:chExt cx="3282950" cy="32829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82950" cy="3282950"/>
            </a:xfrm>
            <a:custGeom>
              <a:avLst/>
              <a:gdLst/>
              <a:ahLst/>
              <a:cxnLst/>
              <a:rect l="l" t="t" r="r" b="b"/>
              <a:pathLst>
                <a:path w="3282950" h="3282950">
                  <a:moveTo>
                    <a:pt x="0" y="0"/>
                  </a:moveTo>
                  <a:lnTo>
                    <a:pt x="2532380" y="0"/>
                  </a:lnTo>
                  <a:cubicBezTo>
                    <a:pt x="2946400" y="0"/>
                    <a:pt x="3282950" y="336550"/>
                    <a:pt x="3282950" y="750570"/>
                  </a:cubicBezTo>
                  <a:lnTo>
                    <a:pt x="3282950" y="750570"/>
                  </a:lnTo>
                  <a:lnTo>
                    <a:pt x="3282950" y="3282950"/>
                  </a:lnTo>
                  <a:lnTo>
                    <a:pt x="3282950" y="3282950"/>
                  </a:lnTo>
                  <a:lnTo>
                    <a:pt x="0" y="3282950"/>
                  </a:lnTo>
                  <a:lnTo>
                    <a:pt x="0" y="328295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5000" b="-25000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28700" y="786914"/>
            <a:ext cx="9929816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>
                <a:solidFill>
                  <a:srgbClr val="1C402E"/>
                </a:solidFill>
                <a:latin typeface="Montserrat"/>
                <a:ea typeface="Montserrat"/>
                <a:cs typeface="Montserrat"/>
                <a:sym typeface="Montserrat"/>
              </a:rPr>
              <a:t>Problem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3107099" y="3804881"/>
            <a:ext cx="3729041" cy="1682219"/>
            <a:chOff x="0" y="0"/>
            <a:chExt cx="4972054" cy="2242959"/>
          </a:xfrm>
        </p:grpSpPr>
        <p:sp>
          <p:nvSpPr>
            <p:cNvPr id="8" name="TextBox 8"/>
            <p:cNvSpPr txBox="1"/>
            <p:nvPr/>
          </p:nvSpPr>
          <p:spPr>
            <a:xfrm>
              <a:off x="0" y="-9525"/>
              <a:ext cx="4972054" cy="5536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AF4"/>
                  </a:solidFill>
                  <a:latin typeface="Open Sans"/>
                  <a:ea typeface="Open Sans"/>
                  <a:cs typeface="Open Sans"/>
                  <a:sym typeface="Open Sans"/>
                </a:rPr>
                <a:t>Users need to: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789892"/>
              <a:ext cx="4972054" cy="1453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2198" lvl="1" indent="-226099" algn="l">
                <a:lnSpc>
                  <a:spcPts val="2932"/>
                </a:lnSpc>
                <a:buFont typeface="Arial"/>
                <a:buChar char="•"/>
              </a:pPr>
              <a:r>
                <a:rPr lang="en-US" sz="2094">
                  <a:solidFill>
                    <a:srgbClr val="FFFAF4"/>
                  </a:solidFill>
                  <a:latin typeface="Open Sans"/>
                  <a:ea typeface="Open Sans"/>
                  <a:cs typeface="Open Sans"/>
                  <a:sym typeface="Open Sans"/>
                </a:rPr>
                <a:t>search multiple sources</a:t>
              </a:r>
            </a:p>
            <a:p>
              <a:pPr marL="452198" lvl="1" indent="-226099" algn="l">
                <a:lnSpc>
                  <a:spcPts val="2932"/>
                </a:lnSpc>
                <a:buFont typeface="Arial"/>
                <a:buChar char="•"/>
              </a:pPr>
              <a:r>
                <a:rPr lang="en-US" sz="2094">
                  <a:solidFill>
                    <a:srgbClr val="FFFAF4"/>
                  </a:solidFill>
                  <a:latin typeface="Open Sans"/>
                  <a:ea typeface="Open Sans"/>
                  <a:cs typeface="Open Sans"/>
                  <a:sym typeface="Open Sans"/>
                </a:rPr>
                <a:t>compare information</a:t>
              </a:r>
            </a:p>
            <a:p>
              <a:pPr marL="452198" lvl="1" indent="-226099" algn="l">
                <a:lnSpc>
                  <a:spcPts val="2932"/>
                </a:lnSpc>
                <a:buFont typeface="Arial"/>
                <a:buChar char="•"/>
              </a:pPr>
              <a:r>
                <a:rPr lang="en-US" sz="2094">
                  <a:solidFill>
                    <a:srgbClr val="FFFAF4"/>
                  </a:solidFill>
                  <a:latin typeface="Open Sans"/>
                  <a:ea typeface="Open Sans"/>
                  <a:cs typeface="Open Sans"/>
                  <a:sym typeface="Open Sans"/>
                </a:rPr>
                <a:t>summarize results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187693" y="5248109"/>
            <a:ext cx="4369850" cy="3204709"/>
            <a:chOff x="0" y="0"/>
            <a:chExt cx="5826466" cy="4272946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9525"/>
              <a:ext cx="5826466" cy="5536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AF4"/>
                  </a:solidFill>
                  <a:latin typeface="Open Sans"/>
                  <a:ea typeface="Open Sans"/>
                  <a:cs typeface="Open Sans"/>
                  <a:sym typeface="Open Sans"/>
                </a:rPr>
                <a:t>Traditional search system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26277" y="1333979"/>
              <a:ext cx="5400189" cy="29389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2198" lvl="1" indent="-226099" algn="l">
                <a:lnSpc>
                  <a:spcPts val="2932"/>
                </a:lnSpc>
                <a:buFont typeface="Arial"/>
                <a:buChar char="•"/>
              </a:pPr>
              <a:r>
                <a:rPr lang="en-US" sz="2094">
                  <a:solidFill>
                    <a:srgbClr val="FFFAF4"/>
                  </a:solidFill>
                  <a:latin typeface="Open Sans"/>
                  <a:ea typeface="Open Sans"/>
                  <a:cs typeface="Open Sans"/>
                  <a:sym typeface="Open Sans"/>
                </a:rPr>
                <a:t>Return links only.</a:t>
              </a:r>
            </a:p>
            <a:p>
              <a:pPr marL="452198" lvl="1" indent="-226099" algn="l">
                <a:lnSpc>
                  <a:spcPts val="2932"/>
                </a:lnSpc>
                <a:buFont typeface="Arial"/>
                <a:buChar char="•"/>
              </a:pPr>
              <a:r>
                <a:rPr lang="en-US" sz="2094">
                  <a:solidFill>
                    <a:srgbClr val="FFFAF4"/>
                  </a:solidFill>
                  <a:latin typeface="Open Sans"/>
                  <a:ea typeface="Open Sans"/>
                  <a:cs typeface="Open Sans"/>
                  <a:sym typeface="Open Sans"/>
                </a:rPr>
                <a:t>cannot preform complex research tasks.</a:t>
              </a:r>
            </a:p>
            <a:p>
              <a:pPr marL="452198" lvl="1" indent="-226099" algn="l">
                <a:lnSpc>
                  <a:spcPts val="2932"/>
                </a:lnSpc>
                <a:buFont typeface="Arial"/>
                <a:buChar char="•"/>
              </a:pPr>
              <a:r>
                <a:rPr lang="en-US" sz="2094">
                  <a:solidFill>
                    <a:srgbClr val="FFFAF4"/>
                  </a:solidFill>
                  <a:latin typeface="Open Sans"/>
                  <a:ea typeface="Open Sans"/>
                  <a:cs typeface="Open Sans"/>
                  <a:sym typeface="Open Sans"/>
                </a:rPr>
                <a:t>Require users to manually read and summarize information.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58433" y="7349713"/>
            <a:ext cx="7971135" cy="3985567"/>
          </a:xfrm>
          <a:custGeom>
            <a:avLst/>
            <a:gdLst/>
            <a:ahLst/>
            <a:cxnLst/>
            <a:rect l="l" t="t" r="r" b="b"/>
            <a:pathLst>
              <a:path w="7971135" h="3985567">
                <a:moveTo>
                  <a:pt x="0" y="0"/>
                </a:moveTo>
                <a:lnTo>
                  <a:pt x="7971134" y="0"/>
                </a:lnTo>
                <a:lnTo>
                  <a:pt x="7971134" y="3985568"/>
                </a:lnTo>
                <a:lnTo>
                  <a:pt x="0" y="39855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800100"/>
            <a:ext cx="6910589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>
                <a:solidFill>
                  <a:srgbClr val="1C402E"/>
                </a:solidFill>
                <a:latin typeface="Montserrat"/>
                <a:ea typeface="Montserrat"/>
                <a:cs typeface="Montserrat"/>
                <a:sym typeface="Montserrat"/>
              </a:rPr>
              <a:t>Solution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19714" y="2472964"/>
            <a:ext cx="4152826" cy="512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7"/>
              </a:lnSpc>
              <a:spcBef>
                <a:spcPct val="0"/>
              </a:spcBef>
            </a:pPr>
            <a:r>
              <a:rPr lang="en-US" sz="3090" b="1">
                <a:solidFill>
                  <a:srgbClr val="1C40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Deep Research Agent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56758" y="3121661"/>
            <a:ext cx="8063880" cy="488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7"/>
              </a:lnSpc>
              <a:spcBef>
                <a:spcPct val="0"/>
              </a:spcBef>
            </a:pPr>
            <a:r>
              <a:rPr lang="en-US" sz="2890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Exa built an AI research agent using LangGraph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38156" y="3743558"/>
            <a:ext cx="2972226" cy="488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7"/>
              </a:lnSpc>
              <a:spcBef>
                <a:spcPct val="0"/>
              </a:spcBef>
            </a:pPr>
            <a:r>
              <a:rPr lang="en-US" sz="2890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The system can: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1746" y="4327354"/>
            <a:ext cx="8375772" cy="2734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9504" lvl="1" indent="-339752" algn="just">
              <a:lnSpc>
                <a:spcPts val="4406"/>
              </a:lnSpc>
              <a:buFont typeface="Arial"/>
              <a:buChar char="•"/>
            </a:pPr>
            <a:r>
              <a:rPr lang="en-US" sz="3147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analyze a research question</a:t>
            </a:r>
          </a:p>
          <a:p>
            <a:pPr marL="679504" lvl="1" indent="-339752" algn="l">
              <a:lnSpc>
                <a:spcPts val="4406"/>
              </a:lnSpc>
              <a:buFont typeface="Arial"/>
              <a:buChar char="•"/>
            </a:pPr>
            <a:r>
              <a:rPr lang="en-US" sz="3147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search the web</a:t>
            </a:r>
          </a:p>
          <a:p>
            <a:pPr marL="679504" lvl="1" indent="-339752" algn="l">
              <a:lnSpc>
                <a:spcPts val="4406"/>
              </a:lnSpc>
              <a:buFont typeface="Arial"/>
              <a:buChar char="•"/>
            </a:pPr>
            <a:r>
              <a:rPr lang="en-US" sz="3147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collect information from multiple sources</a:t>
            </a:r>
          </a:p>
          <a:p>
            <a:pPr marL="679504" lvl="1" indent="-339752" algn="l">
              <a:lnSpc>
                <a:spcPts val="4406"/>
              </a:lnSpc>
              <a:buFont typeface="Arial"/>
              <a:buChar char="•"/>
            </a:pPr>
            <a:r>
              <a:rPr lang="en-US" sz="3147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summarize results</a:t>
            </a:r>
          </a:p>
          <a:p>
            <a:pPr marL="679504" lvl="1" indent="-339752" algn="l">
              <a:lnSpc>
                <a:spcPts val="4406"/>
              </a:lnSpc>
              <a:buFont typeface="Arial"/>
              <a:buChar char="•"/>
            </a:pPr>
            <a:r>
              <a:rPr lang="en-US" sz="3147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generate structured answers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6382" y="8014601"/>
            <a:ext cx="16889656" cy="488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047"/>
              </a:lnSpc>
              <a:spcBef>
                <a:spcPct val="0"/>
              </a:spcBef>
            </a:pPr>
            <a:r>
              <a:rPr lang="en-US" sz="2890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The system processes research queries in 15 seconds to 3 minutes depending on complexity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9930" y="4317420"/>
            <a:ext cx="2803253" cy="1121301"/>
          </a:xfrm>
          <a:custGeom>
            <a:avLst/>
            <a:gdLst/>
            <a:ahLst/>
            <a:cxnLst/>
            <a:rect l="l" t="t" r="r" b="b"/>
            <a:pathLst>
              <a:path w="2803253" h="1121301">
                <a:moveTo>
                  <a:pt x="0" y="0"/>
                </a:moveTo>
                <a:lnTo>
                  <a:pt x="2803253" y="0"/>
                </a:lnTo>
                <a:lnTo>
                  <a:pt x="2803253" y="1121302"/>
                </a:lnTo>
                <a:lnTo>
                  <a:pt x="0" y="1121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390349"/>
            <a:ext cx="10295237" cy="274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>
                <a:solidFill>
                  <a:srgbClr val="1C402E"/>
                </a:solidFill>
                <a:latin typeface="Montserrat"/>
                <a:ea typeface="Montserrat"/>
                <a:cs typeface="Montserrat"/>
                <a:sym typeface="Montserrat"/>
              </a:rPr>
              <a:t>Agent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07152" y="5744885"/>
            <a:ext cx="3936425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20"/>
              </a:lnSpc>
              <a:spcBef>
                <a:spcPct val="0"/>
              </a:spcBef>
            </a:pPr>
            <a:r>
              <a:rPr lang="en-US" sz="3100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Planner Agent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4459" y="6510562"/>
            <a:ext cx="3936425" cy="727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2"/>
              </a:lnSpc>
              <a:spcBef>
                <a:spcPct val="0"/>
              </a:spcBef>
            </a:pPr>
            <a:r>
              <a:rPr lang="en-US" sz="2094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Ana</a:t>
            </a:r>
            <a:r>
              <a:rPr lang="en-US" sz="2094" u="none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lyzes the research question</a:t>
            </a:r>
          </a:p>
          <a:p>
            <a:pPr marL="0" lvl="0" indent="0" algn="l">
              <a:lnSpc>
                <a:spcPts val="2932"/>
              </a:lnSpc>
              <a:spcBef>
                <a:spcPct val="0"/>
              </a:spcBef>
            </a:pPr>
            <a:r>
              <a:rPr lang="en-US" sz="2094" u="none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Breaks it into multiple tasks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62330" y="4420945"/>
            <a:ext cx="1295221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00"/>
              </a:lnSpc>
              <a:spcBef>
                <a:spcPct val="0"/>
              </a:spcBef>
            </a:pPr>
            <a:r>
              <a:rPr lang="en-US" sz="6500" u="none">
                <a:solidFill>
                  <a:srgbClr val="FFFAF4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sp>
        <p:nvSpPr>
          <p:cNvPr id="7" name="Freeform 7"/>
          <p:cNvSpPr/>
          <p:nvPr/>
        </p:nvSpPr>
        <p:spPr>
          <a:xfrm>
            <a:off x="12692058" y="4317420"/>
            <a:ext cx="2803253" cy="1121301"/>
          </a:xfrm>
          <a:custGeom>
            <a:avLst/>
            <a:gdLst/>
            <a:ahLst/>
            <a:cxnLst/>
            <a:rect l="l" t="t" r="r" b="b"/>
            <a:pathLst>
              <a:path w="2803253" h="1121301">
                <a:moveTo>
                  <a:pt x="0" y="0"/>
                </a:moveTo>
                <a:lnTo>
                  <a:pt x="2803253" y="0"/>
                </a:lnTo>
                <a:lnTo>
                  <a:pt x="2803253" y="1121302"/>
                </a:lnTo>
                <a:lnTo>
                  <a:pt x="0" y="1121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3004141" y="4420945"/>
            <a:ext cx="1479103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00"/>
              </a:lnSpc>
              <a:spcBef>
                <a:spcPct val="0"/>
              </a:spcBef>
            </a:pPr>
            <a:r>
              <a:rPr lang="en-US" sz="6500" u="none">
                <a:solidFill>
                  <a:srgbClr val="FFFAF4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id="9" name="Freeform 9"/>
          <p:cNvSpPr/>
          <p:nvPr/>
        </p:nvSpPr>
        <p:spPr>
          <a:xfrm>
            <a:off x="6899648" y="4317420"/>
            <a:ext cx="2803253" cy="1121301"/>
          </a:xfrm>
          <a:custGeom>
            <a:avLst/>
            <a:gdLst/>
            <a:ahLst/>
            <a:cxnLst/>
            <a:rect l="l" t="t" r="r" b="b"/>
            <a:pathLst>
              <a:path w="2803253" h="1121301">
                <a:moveTo>
                  <a:pt x="0" y="0"/>
                </a:moveTo>
                <a:lnTo>
                  <a:pt x="2803253" y="0"/>
                </a:lnTo>
                <a:lnTo>
                  <a:pt x="2803253" y="1121302"/>
                </a:lnTo>
                <a:lnTo>
                  <a:pt x="0" y="1121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131889" y="4420945"/>
            <a:ext cx="1527286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00"/>
              </a:lnSpc>
              <a:spcBef>
                <a:spcPct val="0"/>
              </a:spcBef>
            </a:pPr>
            <a:r>
              <a:rPr lang="en-US" sz="6500" u="none">
                <a:solidFill>
                  <a:srgbClr val="FFFAF4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898259" y="5744885"/>
            <a:ext cx="3936425" cy="1979030"/>
            <a:chOff x="0" y="0"/>
            <a:chExt cx="5248566" cy="2638707"/>
          </a:xfrm>
        </p:grpSpPr>
        <p:sp>
          <p:nvSpPr>
            <p:cNvPr id="12" name="TextBox 12"/>
            <p:cNvSpPr txBox="1"/>
            <p:nvPr/>
          </p:nvSpPr>
          <p:spPr>
            <a:xfrm>
              <a:off x="0" y="0"/>
              <a:ext cx="5248566" cy="622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20"/>
                </a:lnSpc>
                <a:spcBef>
                  <a:spcPct val="0"/>
                </a:spcBef>
              </a:pPr>
              <a:r>
                <a:rPr lang="en-US" sz="3100">
                  <a:solidFill>
                    <a:srgbClr val="1C402E"/>
                  </a:solidFill>
                  <a:latin typeface="Open Sans"/>
                  <a:ea typeface="Open Sans"/>
                  <a:cs typeface="Open Sans"/>
                  <a:sym typeface="Open Sans"/>
                </a:rPr>
                <a:t>Task Agents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185640"/>
              <a:ext cx="5248566" cy="1453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2"/>
                </a:lnSpc>
                <a:spcBef>
                  <a:spcPct val="0"/>
                </a:spcBef>
              </a:pPr>
              <a:r>
                <a:rPr lang="en-US" sz="2094">
                  <a:solidFill>
                    <a:srgbClr val="1C402E"/>
                  </a:solidFill>
                  <a:latin typeface="Open Sans"/>
                  <a:ea typeface="Open Sans"/>
                  <a:cs typeface="Open Sans"/>
                  <a:sym typeface="Open Sans"/>
                </a:rPr>
                <a:t>Each task p</a:t>
              </a:r>
              <a:r>
                <a:rPr lang="en-US" sz="2094" u="none">
                  <a:solidFill>
                    <a:srgbClr val="1C402E"/>
                  </a:solidFill>
                  <a:latin typeface="Open Sans"/>
                  <a:ea typeface="Open Sans"/>
                  <a:cs typeface="Open Sans"/>
                  <a:sym typeface="Open Sans"/>
                </a:rPr>
                <a:t>erforms a specific research step</a:t>
              </a:r>
            </a:p>
            <a:p>
              <a:pPr marL="0" lvl="0" indent="0" algn="l">
                <a:lnSpc>
                  <a:spcPts val="2932"/>
                </a:lnSpc>
                <a:spcBef>
                  <a:spcPct val="0"/>
                </a:spcBef>
              </a:pPr>
              <a:r>
                <a:rPr lang="en-US" sz="2094" u="none">
                  <a:solidFill>
                    <a:srgbClr val="1C402E"/>
                  </a:solidFill>
                  <a:latin typeface="Open Sans"/>
                  <a:ea typeface="Open Sans"/>
                  <a:cs typeface="Open Sans"/>
                  <a:sym typeface="Open Sans"/>
                </a:rPr>
                <a:t>Uses tools such as web search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692058" y="5744885"/>
            <a:ext cx="3936425" cy="2350505"/>
            <a:chOff x="0" y="0"/>
            <a:chExt cx="5248566" cy="3134007"/>
          </a:xfrm>
        </p:grpSpPr>
        <p:sp>
          <p:nvSpPr>
            <p:cNvPr id="15" name="TextBox 15"/>
            <p:cNvSpPr txBox="1"/>
            <p:nvPr/>
          </p:nvSpPr>
          <p:spPr>
            <a:xfrm>
              <a:off x="0" y="0"/>
              <a:ext cx="5248566" cy="622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20"/>
                </a:lnSpc>
                <a:spcBef>
                  <a:spcPct val="0"/>
                </a:spcBef>
              </a:pPr>
              <a:r>
                <a:rPr lang="en-US" sz="3100">
                  <a:solidFill>
                    <a:srgbClr val="1C402E"/>
                  </a:solidFill>
                  <a:latin typeface="Open Sans"/>
                  <a:ea typeface="Open Sans"/>
                  <a:cs typeface="Open Sans"/>
                  <a:sym typeface="Open Sans"/>
                </a:rPr>
                <a:t>Observer Agent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185640"/>
              <a:ext cx="5248566" cy="19483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2"/>
                </a:lnSpc>
                <a:spcBef>
                  <a:spcPct val="0"/>
                </a:spcBef>
              </a:pPr>
              <a:r>
                <a:rPr lang="en-US" sz="2094">
                  <a:solidFill>
                    <a:srgbClr val="1C402E"/>
                  </a:solidFill>
                  <a:latin typeface="Open Sans"/>
                  <a:ea typeface="Open Sans"/>
                  <a:cs typeface="Open Sans"/>
                  <a:sym typeface="Open Sans"/>
                </a:rPr>
                <a:t>Ma</a:t>
              </a:r>
              <a:r>
                <a:rPr lang="en-US" sz="2094" u="none">
                  <a:solidFill>
                    <a:srgbClr val="1C402E"/>
                  </a:solidFill>
                  <a:latin typeface="Open Sans"/>
                  <a:ea typeface="Open Sans"/>
                  <a:cs typeface="Open Sans"/>
                  <a:sym typeface="Open Sans"/>
                </a:rPr>
                <a:t>intains global context</a:t>
              </a:r>
            </a:p>
            <a:p>
              <a:pPr marL="0" lvl="0" indent="0" algn="l">
                <a:lnSpc>
                  <a:spcPts val="2932"/>
                </a:lnSpc>
                <a:spcBef>
                  <a:spcPct val="0"/>
                </a:spcBef>
              </a:pPr>
              <a:r>
                <a:rPr lang="en-US" sz="2094" u="none">
                  <a:solidFill>
                    <a:srgbClr val="1C402E"/>
                  </a:solidFill>
                  <a:latin typeface="Open Sans"/>
                  <a:ea typeface="Open Sans"/>
                  <a:cs typeface="Open Sans"/>
                  <a:sym typeface="Open Sans"/>
                </a:rPr>
                <a:t>Combines results from different tasks</a:t>
              </a:r>
            </a:p>
            <a:p>
              <a:pPr marL="0" lvl="0" indent="0" algn="l">
                <a:lnSpc>
                  <a:spcPts val="2932"/>
                </a:lnSpc>
                <a:spcBef>
                  <a:spcPct val="0"/>
                </a:spcBef>
              </a:pPr>
              <a:endParaRPr lang="en-US" sz="2094" u="none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09930" y="3381199"/>
            <a:ext cx="7377782" cy="488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7"/>
              </a:lnSpc>
              <a:spcBef>
                <a:spcPct val="0"/>
              </a:spcBef>
            </a:pPr>
            <a:r>
              <a:rPr lang="en-US" sz="28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system uses a multi Agent Architecture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511557" y="8600215"/>
            <a:ext cx="12222882" cy="488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7"/>
              </a:lnSpc>
              <a:spcBef>
                <a:spcPct val="0"/>
              </a:spcBef>
            </a:pPr>
            <a:r>
              <a:rPr lang="en-US" sz="28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architecture allows the system to handle complex research queries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19150"/>
            <a:ext cx="13245094" cy="274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>
                <a:solidFill>
                  <a:srgbClr val="FFFAF4"/>
                </a:solidFill>
                <a:latin typeface="Montserrat"/>
                <a:ea typeface="Montserrat"/>
                <a:cs typeface="Montserrat"/>
                <a:sym typeface="Montserrat"/>
              </a:rPr>
              <a:t>What is Agentic in this System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781881"/>
            <a:ext cx="10347354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>
                <a:solidFill>
                  <a:srgbClr val="FFFAF4"/>
                </a:solidFill>
                <a:latin typeface="Open Sans"/>
                <a:ea typeface="Open Sans"/>
                <a:cs typeface="Open Sans"/>
                <a:sym typeface="Open Sans"/>
              </a:rPr>
              <a:t>Agentic Components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484191"/>
            <a:ext cx="5240908" cy="488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7"/>
              </a:lnSpc>
              <a:spcBef>
                <a:spcPct val="0"/>
              </a:spcBef>
            </a:pPr>
            <a:r>
              <a:rPr lang="en-US" sz="2890">
                <a:solidFill>
                  <a:srgbClr val="FFFAF4"/>
                </a:solidFill>
                <a:latin typeface="Open Sans"/>
                <a:ea typeface="Open Sans"/>
                <a:cs typeface="Open Sans"/>
                <a:sym typeface="Open Sans"/>
              </a:rPr>
              <a:t>The system is agentic because: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5499957"/>
            <a:ext cx="10701561" cy="2600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5733" lvl="1" indent="-322866" algn="l">
              <a:lnSpc>
                <a:spcPts val="4187"/>
              </a:lnSpc>
              <a:buFont typeface="Arial"/>
              <a:buChar char="•"/>
            </a:pPr>
            <a:r>
              <a:rPr lang="en-US" sz="2990">
                <a:solidFill>
                  <a:srgbClr val="FFFAF4"/>
                </a:solidFill>
                <a:latin typeface="Open Sans"/>
                <a:ea typeface="Open Sans"/>
                <a:cs typeface="Open Sans"/>
                <a:sym typeface="Open Sans"/>
              </a:rPr>
              <a:t>The AI decides how to solve the problem</a:t>
            </a:r>
          </a:p>
          <a:p>
            <a:pPr marL="645733" lvl="1" indent="-322866" algn="l">
              <a:lnSpc>
                <a:spcPts val="4187"/>
              </a:lnSpc>
              <a:buFont typeface="Arial"/>
              <a:buChar char="•"/>
            </a:pPr>
            <a:r>
              <a:rPr lang="en-US" sz="2990">
                <a:solidFill>
                  <a:srgbClr val="FFFAF4"/>
                </a:solidFill>
                <a:latin typeface="Open Sans"/>
                <a:ea typeface="Open Sans"/>
                <a:cs typeface="Open Sans"/>
                <a:sym typeface="Open Sans"/>
              </a:rPr>
              <a:t>It creates tasks dynamically</a:t>
            </a:r>
          </a:p>
          <a:p>
            <a:pPr marL="645733" lvl="1" indent="-322866" algn="l">
              <a:lnSpc>
                <a:spcPts val="4187"/>
              </a:lnSpc>
              <a:buFont typeface="Arial"/>
              <a:buChar char="•"/>
            </a:pPr>
            <a:r>
              <a:rPr lang="en-US" sz="2990">
                <a:solidFill>
                  <a:srgbClr val="FFFAF4"/>
                </a:solidFill>
                <a:latin typeface="Open Sans"/>
                <a:ea typeface="Open Sans"/>
                <a:cs typeface="Open Sans"/>
                <a:sym typeface="Open Sans"/>
              </a:rPr>
              <a:t>It uses tools (search, retrieval, processing)</a:t>
            </a:r>
          </a:p>
          <a:p>
            <a:pPr marL="645733" lvl="1" indent="-322866" algn="l">
              <a:lnSpc>
                <a:spcPts val="4187"/>
              </a:lnSpc>
              <a:buFont typeface="Arial"/>
              <a:buChar char="•"/>
            </a:pPr>
            <a:r>
              <a:rPr lang="en-US" sz="2990">
                <a:solidFill>
                  <a:srgbClr val="FFFAF4"/>
                </a:solidFill>
                <a:latin typeface="Open Sans"/>
                <a:ea typeface="Open Sans"/>
                <a:cs typeface="Open Sans"/>
                <a:sym typeface="Open Sans"/>
              </a:rPr>
              <a:t>Multiple agents collaborate to complete the task</a:t>
            </a:r>
          </a:p>
          <a:p>
            <a:pPr marL="645733" lvl="1" indent="-322866" algn="l">
              <a:lnSpc>
                <a:spcPts val="4187"/>
              </a:lnSpc>
              <a:buFont typeface="Arial"/>
              <a:buChar char="•"/>
            </a:pPr>
            <a:r>
              <a:rPr lang="en-US" sz="2990">
                <a:solidFill>
                  <a:srgbClr val="FFFAF4"/>
                </a:solidFill>
                <a:latin typeface="Open Sans"/>
                <a:ea typeface="Open Sans"/>
                <a:cs typeface="Open Sans"/>
                <a:sym typeface="Open Sans"/>
              </a:rPr>
              <a:t>The workflow adapts depending on the query complexity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15337" y="8493926"/>
            <a:ext cx="7346603" cy="488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7"/>
              </a:lnSpc>
              <a:spcBef>
                <a:spcPct val="0"/>
              </a:spcBef>
            </a:pPr>
            <a:r>
              <a:rPr lang="en-US" sz="2890">
                <a:solidFill>
                  <a:srgbClr val="FFFAF4"/>
                </a:solidFill>
                <a:latin typeface="Open Sans"/>
                <a:ea typeface="Open Sans"/>
                <a:cs typeface="Open Sans"/>
                <a:sym typeface="Open Sans"/>
              </a:rPr>
              <a:t>This reflects a typical multi-agent AI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09625"/>
            <a:ext cx="7538080" cy="274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>
                <a:solidFill>
                  <a:srgbClr val="1C402E"/>
                </a:solidFill>
                <a:latin typeface="Montserrat"/>
                <a:ea typeface="Montserrat"/>
                <a:cs typeface="Montserrat"/>
                <a:sym typeface="Montserrat"/>
              </a:rPr>
              <a:t>What is NOT Agentic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697601" y="4950384"/>
            <a:ext cx="7811062" cy="208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160"/>
              </a:lnSpc>
              <a:buFont typeface="Arial"/>
              <a:buChar char="•"/>
            </a:pPr>
            <a:r>
              <a:rPr lang="en-US" sz="3200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Web search APIs</a:t>
            </a:r>
          </a:p>
          <a:p>
            <a:pPr marL="690881" lvl="1" indent="-345440" algn="l">
              <a:lnSpc>
                <a:spcPts val="4160"/>
              </a:lnSpc>
              <a:buFont typeface="Arial"/>
              <a:buChar char="•"/>
            </a:pPr>
            <a:r>
              <a:rPr lang="en-US" sz="3200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Databases and vector stores</a:t>
            </a:r>
          </a:p>
          <a:p>
            <a:pPr marL="690881" lvl="1" indent="-345440" algn="l">
              <a:lnSpc>
                <a:spcPts val="4160"/>
              </a:lnSpc>
              <a:buFont typeface="Arial"/>
              <a:buChar char="•"/>
            </a:pPr>
            <a:r>
              <a:rPr lang="en-US" sz="3200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Code execution environments</a:t>
            </a:r>
          </a:p>
          <a:p>
            <a:pPr marL="690881" lvl="1" indent="-345440" algn="l">
              <a:lnSpc>
                <a:spcPts val="4160"/>
              </a:lnSpc>
              <a:buFont typeface="Arial"/>
              <a:buChar char="•"/>
            </a:pPr>
            <a:r>
              <a:rPr lang="en-US" sz="3200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Data processing pipelines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017607"/>
            <a:ext cx="13899574" cy="46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0"/>
              </a:lnSpc>
              <a:spcBef>
                <a:spcPct val="0"/>
              </a:spcBef>
            </a:pPr>
            <a:r>
              <a:rPr lang="en-US" sz="2900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Some components in the system are traditional software components, such 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74360" y="7867542"/>
            <a:ext cx="10934609" cy="424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0"/>
              </a:lnSpc>
              <a:spcBef>
                <a:spcPct val="0"/>
              </a:spcBef>
            </a:pPr>
            <a:r>
              <a:rPr lang="en-US" sz="2600">
                <a:solidFill>
                  <a:srgbClr val="1C402E"/>
                </a:solidFill>
                <a:latin typeface="Open Sans"/>
                <a:ea typeface="Open Sans"/>
                <a:cs typeface="Open Sans"/>
                <a:sym typeface="Open Sans"/>
              </a:rPr>
              <a:t>These are deterministic software systems that support the AI agents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9187" y="1602785"/>
            <a:ext cx="7426254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1C402E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010793" y="748814"/>
            <a:ext cx="4248507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10"/>
              </a:lnSpc>
            </a:pPr>
            <a:r>
              <a:rPr lang="en-US" sz="2700" u="sng">
                <a:solidFill>
                  <a:srgbClr val="FFFAF4"/>
                </a:solidFill>
                <a:latin typeface="Open Sans"/>
                <a:ea typeface="Open Sans"/>
                <a:cs typeface="Open Sans"/>
                <a:sym typeface="Open Sans"/>
                <a:hlinkClick r:id="rId2" action="ppaction://hlinksldjump"/>
              </a:rPr>
              <a:t>Back to Agenda</a:t>
            </a:r>
          </a:p>
        </p:txBody>
      </p:sp>
      <p:sp>
        <p:nvSpPr>
          <p:cNvPr id="4" name="Freeform 4"/>
          <p:cNvSpPr/>
          <p:nvPr/>
        </p:nvSpPr>
        <p:spPr>
          <a:xfrm>
            <a:off x="8676727" y="0"/>
            <a:ext cx="13404163" cy="14455470"/>
          </a:xfrm>
          <a:custGeom>
            <a:avLst/>
            <a:gdLst/>
            <a:ahLst/>
            <a:cxnLst/>
            <a:rect l="l" t="t" r="r" b="b"/>
            <a:pathLst>
              <a:path w="13404163" h="14455470">
                <a:moveTo>
                  <a:pt x="0" y="0"/>
                </a:moveTo>
                <a:lnTo>
                  <a:pt x="13404163" y="0"/>
                </a:lnTo>
                <a:lnTo>
                  <a:pt x="13404163" y="14455470"/>
                </a:lnTo>
                <a:lnTo>
                  <a:pt x="0" y="144554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0" y="3786325"/>
            <a:ext cx="8676727" cy="365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3" lvl="1" indent="-302261" algn="l">
              <a:lnSpc>
                <a:spcPts val="364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Agentic AI systems can perform complex tasks autonomously</a:t>
            </a:r>
          </a:p>
          <a:p>
            <a:pPr marL="604523" lvl="1" indent="-302261" algn="l">
              <a:lnSpc>
                <a:spcPts val="364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Multi-agent systems improve scalability and reasoning</a:t>
            </a:r>
          </a:p>
          <a:p>
            <a:pPr marL="604523" lvl="1" indent="-302261" algn="l">
              <a:lnSpc>
                <a:spcPts val="364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LangGraph helps developers orchestrate multiple AI agents</a:t>
            </a:r>
          </a:p>
          <a:p>
            <a:pPr marL="604523" lvl="1" indent="-302261" algn="l">
              <a:lnSpc>
                <a:spcPts val="364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Exa demonstrates how agentic systems can automate research tasks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407</Words>
  <Application>Microsoft Macintosh PowerPoint</Application>
  <PresentationFormat>Custom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Calibri</vt:lpstr>
      <vt:lpstr>Arial</vt:lpstr>
      <vt:lpstr>Montserrat</vt:lpstr>
      <vt:lpstr>Montserrat Bold</vt:lpstr>
      <vt:lpstr>Open Sans</vt:lpstr>
      <vt:lpstr>Open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Green Corporate Geometric Business Case Study and Report Business Presentation</dc:title>
  <cp:lastModifiedBy>منيره فالح الفالح</cp:lastModifiedBy>
  <cp:revision>2</cp:revision>
  <dcterms:created xsi:type="dcterms:W3CDTF">2006-08-16T00:00:00Z</dcterms:created>
  <dcterms:modified xsi:type="dcterms:W3CDTF">2026-03-10T19:49:44Z</dcterms:modified>
  <dc:identifier>DAHDkjn95iA</dc:identifier>
</cp:coreProperties>
</file>